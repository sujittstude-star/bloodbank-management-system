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8" r:id="rId4"/>
    <p:sldId id="259" r:id="rId5"/>
    <p:sldId id="260" r:id="rId6"/>
    <p:sldId id="261" r:id="rId7"/>
    <p:sldId id="273" r:id="rId8"/>
    <p:sldId id="272" r:id="rId9"/>
    <p:sldId id="268" r:id="rId10"/>
    <p:sldId id="263" r:id="rId11"/>
    <p:sldId id="264" r:id="rId12"/>
    <p:sldId id="265" r:id="rId13"/>
    <p:sldId id="271" r:id="rId14"/>
    <p:sldId id="270" r:id="rId15"/>
    <p:sldId id="266" r:id="rId16"/>
    <p:sldId id="269" r:id="rId17"/>
    <p:sldId id="267"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577" autoAdjust="0"/>
    <p:restoredTop sz="94660"/>
  </p:normalViewPr>
  <p:slideViewPr>
    <p:cSldViewPr snapToGrid="0">
      <p:cViewPr varScale="1">
        <p:scale>
          <a:sx n="84" d="100"/>
          <a:sy n="84" d="100"/>
        </p:scale>
        <p:origin x="677"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58F48D-DE5F-47AE-BD2E-0DF7821D2A20}" type="datetimeFigureOut">
              <a:rPr lang="en-IN" smtClean="0"/>
              <a:t>25-11-2025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81D6DD-4674-4156-B359-57C14768D6DA}" type="slidenum">
              <a:rPr lang="en-IN" smtClean="0"/>
              <a:t>‹#›</a:t>
            </a:fld>
            <a:endParaRPr lang="en-IN"/>
          </a:p>
        </p:txBody>
      </p:sp>
    </p:spTree>
    <p:extLst>
      <p:ext uri="{BB962C8B-B14F-4D97-AF65-F5344CB8AC3E}">
        <p14:creationId xmlns:p14="http://schemas.microsoft.com/office/powerpoint/2010/main" val="41335275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C81D6DD-4674-4156-B359-57C14768D6DA}" type="slidenum">
              <a:rPr lang="en-IN" smtClean="0"/>
              <a:t>6</a:t>
            </a:fld>
            <a:endParaRPr lang="en-IN"/>
          </a:p>
        </p:txBody>
      </p:sp>
    </p:spTree>
    <p:extLst>
      <p:ext uri="{BB962C8B-B14F-4D97-AF65-F5344CB8AC3E}">
        <p14:creationId xmlns:p14="http://schemas.microsoft.com/office/powerpoint/2010/main" val="9993998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42192-F052-3A09-DADA-BB0D0FCB9E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6F68558-2FF6-B2E9-14A9-B9AFCB9DFC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6CF5CFE-7535-BD19-F83E-50E074CD4793}"/>
              </a:ext>
            </a:extLst>
          </p:cNvPr>
          <p:cNvSpPr>
            <a:spLocks noGrp="1"/>
          </p:cNvSpPr>
          <p:nvPr>
            <p:ph type="dt" sz="half" idx="10"/>
          </p:nvPr>
        </p:nvSpPr>
        <p:spPr/>
        <p:txBody>
          <a:bodyPr/>
          <a:lstStyle/>
          <a:p>
            <a:fld id="{AE598783-22CF-4617-BC66-6F5B8132EB51}" type="datetimeFigureOut">
              <a:rPr lang="en-IN" smtClean="0"/>
              <a:t>25-11-2025</a:t>
            </a:fld>
            <a:endParaRPr lang="en-IN"/>
          </a:p>
        </p:txBody>
      </p:sp>
      <p:sp>
        <p:nvSpPr>
          <p:cNvPr id="5" name="Footer Placeholder 4">
            <a:extLst>
              <a:ext uri="{FF2B5EF4-FFF2-40B4-BE49-F238E27FC236}">
                <a16:creationId xmlns:a16="http://schemas.microsoft.com/office/drawing/2014/main" id="{4DA41589-5CAF-9EF1-A841-C0BCF54F46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306ED9-84B4-D942-9FE1-913085F1C74A}"/>
              </a:ext>
            </a:extLst>
          </p:cNvPr>
          <p:cNvSpPr>
            <a:spLocks noGrp="1"/>
          </p:cNvSpPr>
          <p:nvPr>
            <p:ph type="sldNum" sz="quarter" idx="12"/>
          </p:nvPr>
        </p:nvSpPr>
        <p:spPr/>
        <p:txBody>
          <a:bodyPr/>
          <a:lstStyle/>
          <a:p>
            <a:fld id="{6EE62625-EC21-420C-B34E-C2A9E291E032}" type="slidenum">
              <a:rPr lang="en-IN" smtClean="0"/>
              <a:t>‹#›</a:t>
            </a:fld>
            <a:endParaRPr lang="en-IN"/>
          </a:p>
        </p:txBody>
      </p:sp>
    </p:spTree>
    <p:extLst>
      <p:ext uri="{BB962C8B-B14F-4D97-AF65-F5344CB8AC3E}">
        <p14:creationId xmlns:p14="http://schemas.microsoft.com/office/powerpoint/2010/main" val="5466232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19990-4794-0675-04B2-29C14CDD788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1097DBB-AD69-6FD8-E633-58C19A32794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DB47F6-3DDE-006A-0CE7-539889CCBB55}"/>
              </a:ext>
            </a:extLst>
          </p:cNvPr>
          <p:cNvSpPr>
            <a:spLocks noGrp="1"/>
          </p:cNvSpPr>
          <p:nvPr>
            <p:ph type="dt" sz="half" idx="10"/>
          </p:nvPr>
        </p:nvSpPr>
        <p:spPr/>
        <p:txBody>
          <a:bodyPr/>
          <a:lstStyle/>
          <a:p>
            <a:fld id="{AE598783-22CF-4617-BC66-6F5B8132EB51}" type="datetimeFigureOut">
              <a:rPr lang="en-IN" smtClean="0"/>
              <a:t>25-11-2025</a:t>
            </a:fld>
            <a:endParaRPr lang="en-IN"/>
          </a:p>
        </p:txBody>
      </p:sp>
      <p:sp>
        <p:nvSpPr>
          <p:cNvPr id="5" name="Footer Placeholder 4">
            <a:extLst>
              <a:ext uri="{FF2B5EF4-FFF2-40B4-BE49-F238E27FC236}">
                <a16:creationId xmlns:a16="http://schemas.microsoft.com/office/drawing/2014/main" id="{D92C4271-55D7-893A-2B8F-4B20EA5F81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6650FC-FF44-050C-C076-377DCEAAE07C}"/>
              </a:ext>
            </a:extLst>
          </p:cNvPr>
          <p:cNvSpPr>
            <a:spLocks noGrp="1"/>
          </p:cNvSpPr>
          <p:nvPr>
            <p:ph type="sldNum" sz="quarter" idx="12"/>
          </p:nvPr>
        </p:nvSpPr>
        <p:spPr/>
        <p:txBody>
          <a:bodyPr/>
          <a:lstStyle/>
          <a:p>
            <a:fld id="{6EE62625-EC21-420C-B34E-C2A9E291E032}" type="slidenum">
              <a:rPr lang="en-IN" smtClean="0"/>
              <a:t>‹#›</a:t>
            </a:fld>
            <a:endParaRPr lang="en-IN"/>
          </a:p>
        </p:txBody>
      </p:sp>
    </p:spTree>
    <p:extLst>
      <p:ext uri="{BB962C8B-B14F-4D97-AF65-F5344CB8AC3E}">
        <p14:creationId xmlns:p14="http://schemas.microsoft.com/office/powerpoint/2010/main" val="874722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FEEE0-7F4E-0125-4075-9FCA40271EA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85AE556-6633-06FC-708E-C39F0E57F1D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3EDA664-BF0A-0751-41AB-509AA109C7DA}"/>
              </a:ext>
            </a:extLst>
          </p:cNvPr>
          <p:cNvSpPr>
            <a:spLocks noGrp="1"/>
          </p:cNvSpPr>
          <p:nvPr>
            <p:ph type="dt" sz="half" idx="10"/>
          </p:nvPr>
        </p:nvSpPr>
        <p:spPr/>
        <p:txBody>
          <a:bodyPr/>
          <a:lstStyle/>
          <a:p>
            <a:fld id="{AE598783-22CF-4617-BC66-6F5B8132EB51}" type="datetimeFigureOut">
              <a:rPr lang="en-IN" smtClean="0"/>
              <a:t>25-11-2025</a:t>
            </a:fld>
            <a:endParaRPr lang="en-IN"/>
          </a:p>
        </p:txBody>
      </p:sp>
      <p:sp>
        <p:nvSpPr>
          <p:cNvPr id="5" name="Footer Placeholder 4">
            <a:extLst>
              <a:ext uri="{FF2B5EF4-FFF2-40B4-BE49-F238E27FC236}">
                <a16:creationId xmlns:a16="http://schemas.microsoft.com/office/drawing/2014/main" id="{121EB276-5A3D-B5BF-4481-CA6523AD5C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80FB4E-B156-AD72-9A08-E7203449C11D}"/>
              </a:ext>
            </a:extLst>
          </p:cNvPr>
          <p:cNvSpPr>
            <a:spLocks noGrp="1"/>
          </p:cNvSpPr>
          <p:nvPr>
            <p:ph type="sldNum" sz="quarter" idx="12"/>
          </p:nvPr>
        </p:nvSpPr>
        <p:spPr/>
        <p:txBody>
          <a:bodyPr/>
          <a:lstStyle/>
          <a:p>
            <a:fld id="{6EE62625-EC21-420C-B34E-C2A9E291E032}" type="slidenum">
              <a:rPr lang="en-IN" smtClean="0"/>
              <a:t>‹#›</a:t>
            </a:fld>
            <a:endParaRPr lang="en-IN"/>
          </a:p>
        </p:txBody>
      </p:sp>
    </p:spTree>
    <p:extLst>
      <p:ext uri="{BB962C8B-B14F-4D97-AF65-F5344CB8AC3E}">
        <p14:creationId xmlns:p14="http://schemas.microsoft.com/office/powerpoint/2010/main" val="2589687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222EC-F205-ED37-D5B7-F9EB4FE7ED8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343B53A-A68B-020B-8AF8-E49FC103AC1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E4222A8-5781-88D6-B920-85F1D12F04C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748B8FF-5815-9144-E189-8C49723F53BA}"/>
              </a:ext>
            </a:extLst>
          </p:cNvPr>
          <p:cNvSpPr>
            <a:spLocks noGrp="1"/>
          </p:cNvSpPr>
          <p:nvPr>
            <p:ph type="dt" sz="half" idx="10"/>
          </p:nvPr>
        </p:nvSpPr>
        <p:spPr/>
        <p:txBody>
          <a:bodyPr/>
          <a:lstStyle/>
          <a:p>
            <a:fld id="{AE598783-22CF-4617-BC66-6F5B8132EB51}" type="datetimeFigureOut">
              <a:rPr lang="en-IN" smtClean="0"/>
              <a:t>25-11-2025</a:t>
            </a:fld>
            <a:endParaRPr lang="en-IN"/>
          </a:p>
        </p:txBody>
      </p:sp>
      <p:sp>
        <p:nvSpPr>
          <p:cNvPr id="6" name="Footer Placeholder 5">
            <a:extLst>
              <a:ext uri="{FF2B5EF4-FFF2-40B4-BE49-F238E27FC236}">
                <a16:creationId xmlns:a16="http://schemas.microsoft.com/office/drawing/2014/main" id="{354B9573-7A45-EF2C-36F0-455CA56A0EE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F88466C-B418-3DA0-BEE4-DF3B6A62B5C7}"/>
              </a:ext>
            </a:extLst>
          </p:cNvPr>
          <p:cNvSpPr>
            <a:spLocks noGrp="1"/>
          </p:cNvSpPr>
          <p:nvPr>
            <p:ph type="sldNum" sz="quarter" idx="12"/>
          </p:nvPr>
        </p:nvSpPr>
        <p:spPr/>
        <p:txBody>
          <a:bodyPr/>
          <a:lstStyle/>
          <a:p>
            <a:fld id="{6EE62625-EC21-420C-B34E-C2A9E291E032}" type="slidenum">
              <a:rPr lang="en-IN" smtClean="0"/>
              <a:t>‹#›</a:t>
            </a:fld>
            <a:endParaRPr lang="en-IN"/>
          </a:p>
        </p:txBody>
      </p:sp>
    </p:spTree>
    <p:extLst>
      <p:ext uri="{BB962C8B-B14F-4D97-AF65-F5344CB8AC3E}">
        <p14:creationId xmlns:p14="http://schemas.microsoft.com/office/powerpoint/2010/main" val="11505671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2E340-4CEB-1891-2693-A88625998D2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9D96ECB-C22C-2FC8-EE4A-26DF0604DB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C92FA0-015B-4C0E-4276-B6E2EA6E34F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33AC76E-FEA1-14D0-F8EA-684717C5E0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CAB67DE-A4E0-ABD5-DE17-F89AE72676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F66C816-ADFA-67C7-1EF0-964B6EDDBAB6}"/>
              </a:ext>
            </a:extLst>
          </p:cNvPr>
          <p:cNvSpPr>
            <a:spLocks noGrp="1"/>
          </p:cNvSpPr>
          <p:nvPr>
            <p:ph type="dt" sz="half" idx="10"/>
          </p:nvPr>
        </p:nvSpPr>
        <p:spPr/>
        <p:txBody>
          <a:bodyPr/>
          <a:lstStyle/>
          <a:p>
            <a:fld id="{AE598783-22CF-4617-BC66-6F5B8132EB51}" type="datetimeFigureOut">
              <a:rPr lang="en-IN" smtClean="0"/>
              <a:t>25-11-2025</a:t>
            </a:fld>
            <a:endParaRPr lang="en-IN"/>
          </a:p>
        </p:txBody>
      </p:sp>
      <p:sp>
        <p:nvSpPr>
          <p:cNvPr id="8" name="Footer Placeholder 7">
            <a:extLst>
              <a:ext uri="{FF2B5EF4-FFF2-40B4-BE49-F238E27FC236}">
                <a16:creationId xmlns:a16="http://schemas.microsoft.com/office/drawing/2014/main" id="{1404FE26-41B2-5324-594E-B9ADA9AD525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F12547A-31FD-51BC-5EF1-61FD39E71973}"/>
              </a:ext>
            </a:extLst>
          </p:cNvPr>
          <p:cNvSpPr>
            <a:spLocks noGrp="1"/>
          </p:cNvSpPr>
          <p:nvPr>
            <p:ph type="sldNum" sz="quarter" idx="12"/>
          </p:nvPr>
        </p:nvSpPr>
        <p:spPr/>
        <p:txBody>
          <a:bodyPr/>
          <a:lstStyle/>
          <a:p>
            <a:fld id="{6EE62625-EC21-420C-B34E-C2A9E291E032}" type="slidenum">
              <a:rPr lang="en-IN" smtClean="0"/>
              <a:t>‹#›</a:t>
            </a:fld>
            <a:endParaRPr lang="en-IN"/>
          </a:p>
        </p:txBody>
      </p:sp>
    </p:spTree>
    <p:extLst>
      <p:ext uri="{BB962C8B-B14F-4D97-AF65-F5344CB8AC3E}">
        <p14:creationId xmlns:p14="http://schemas.microsoft.com/office/powerpoint/2010/main" val="25234809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F86FF-9BE7-AF0F-BF97-09D529949EB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93480D7-341C-6C9F-72DB-E61A0C67A19D}"/>
              </a:ext>
            </a:extLst>
          </p:cNvPr>
          <p:cNvSpPr>
            <a:spLocks noGrp="1"/>
          </p:cNvSpPr>
          <p:nvPr>
            <p:ph type="dt" sz="half" idx="10"/>
          </p:nvPr>
        </p:nvSpPr>
        <p:spPr/>
        <p:txBody>
          <a:bodyPr/>
          <a:lstStyle/>
          <a:p>
            <a:fld id="{AE598783-22CF-4617-BC66-6F5B8132EB51}" type="datetimeFigureOut">
              <a:rPr lang="en-IN" smtClean="0"/>
              <a:t>25-11-2025</a:t>
            </a:fld>
            <a:endParaRPr lang="en-IN"/>
          </a:p>
        </p:txBody>
      </p:sp>
      <p:sp>
        <p:nvSpPr>
          <p:cNvPr id="4" name="Footer Placeholder 3">
            <a:extLst>
              <a:ext uri="{FF2B5EF4-FFF2-40B4-BE49-F238E27FC236}">
                <a16:creationId xmlns:a16="http://schemas.microsoft.com/office/drawing/2014/main" id="{3B6216BF-C30B-5134-DC1F-86DCCBB1756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4CC5BDF-DA60-1929-960A-0B4098E61213}"/>
              </a:ext>
            </a:extLst>
          </p:cNvPr>
          <p:cNvSpPr>
            <a:spLocks noGrp="1"/>
          </p:cNvSpPr>
          <p:nvPr>
            <p:ph type="sldNum" sz="quarter" idx="12"/>
          </p:nvPr>
        </p:nvSpPr>
        <p:spPr/>
        <p:txBody>
          <a:bodyPr/>
          <a:lstStyle/>
          <a:p>
            <a:fld id="{6EE62625-EC21-420C-B34E-C2A9E291E032}" type="slidenum">
              <a:rPr lang="en-IN" smtClean="0"/>
              <a:t>‹#›</a:t>
            </a:fld>
            <a:endParaRPr lang="en-IN"/>
          </a:p>
        </p:txBody>
      </p:sp>
    </p:spTree>
    <p:extLst>
      <p:ext uri="{BB962C8B-B14F-4D97-AF65-F5344CB8AC3E}">
        <p14:creationId xmlns:p14="http://schemas.microsoft.com/office/powerpoint/2010/main" val="867981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719934-4E1D-A8EA-3544-4B37CD401006}"/>
              </a:ext>
            </a:extLst>
          </p:cNvPr>
          <p:cNvSpPr>
            <a:spLocks noGrp="1"/>
          </p:cNvSpPr>
          <p:nvPr>
            <p:ph type="dt" sz="half" idx="10"/>
          </p:nvPr>
        </p:nvSpPr>
        <p:spPr/>
        <p:txBody>
          <a:bodyPr/>
          <a:lstStyle/>
          <a:p>
            <a:fld id="{AE598783-22CF-4617-BC66-6F5B8132EB51}" type="datetimeFigureOut">
              <a:rPr lang="en-IN" smtClean="0"/>
              <a:t>25-11-2025</a:t>
            </a:fld>
            <a:endParaRPr lang="en-IN"/>
          </a:p>
        </p:txBody>
      </p:sp>
      <p:sp>
        <p:nvSpPr>
          <p:cNvPr id="3" name="Footer Placeholder 2">
            <a:extLst>
              <a:ext uri="{FF2B5EF4-FFF2-40B4-BE49-F238E27FC236}">
                <a16:creationId xmlns:a16="http://schemas.microsoft.com/office/drawing/2014/main" id="{F539FA2E-1610-491A-E302-80A79B0C407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2F90B33-B127-8BE7-DDEF-520C9527B94C}"/>
              </a:ext>
            </a:extLst>
          </p:cNvPr>
          <p:cNvSpPr>
            <a:spLocks noGrp="1"/>
          </p:cNvSpPr>
          <p:nvPr>
            <p:ph type="sldNum" sz="quarter" idx="12"/>
          </p:nvPr>
        </p:nvSpPr>
        <p:spPr/>
        <p:txBody>
          <a:bodyPr/>
          <a:lstStyle/>
          <a:p>
            <a:fld id="{6EE62625-EC21-420C-B34E-C2A9E291E032}" type="slidenum">
              <a:rPr lang="en-IN" smtClean="0"/>
              <a:t>‹#›</a:t>
            </a:fld>
            <a:endParaRPr lang="en-IN"/>
          </a:p>
        </p:txBody>
      </p:sp>
    </p:spTree>
    <p:extLst>
      <p:ext uri="{BB962C8B-B14F-4D97-AF65-F5344CB8AC3E}">
        <p14:creationId xmlns:p14="http://schemas.microsoft.com/office/powerpoint/2010/main" val="3850283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D6995-7A1D-1C1D-D124-DDEEE23A54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11A7D6A-2F96-74C3-A611-5E3F506313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2047837-E39E-AE43-E498-0CA74A015D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8A2120-ABAF-FB0A-8D50-DC9245BF19B5}"/>
              </a:ext>
            </a:extLst>
          </p:cNvPr>
          <p:cNvSpPr>
            <a:spLocks noGrp="1"/>
          </p:cNvSpPr>
          <p:nvPr>
            <p:ph type="dt" sz="half" idx="10"/>
          </p:nvPr>
        </p:nvSpPr>
        <p:spPr/>
        <p:txBody>
          <a:bodyPr/>
          <a:lstStyle/>
          <a:p>
            <a:fld id="{AE598783-22CF-4617-BC66-6F5B8132EB51}" type="datetimeFigureOut">
              <a:rPr lang="en-IN" smtClean="0"/>
              <a:t>25-11-2025</a:t>
            </a:fld>
            <a:endParaRPr lang="en-IN"/>
          </a:p>
        </p:txBody>
      </p:sp>
      <p:sp>
        <p:nvSpPr>
          <p:cNvPr id="6" name="Footer Placeholder 5">
            <a:extLst>
              <a:ext uri="{FF2B5EF4-FFF2-40B4-BE49-F238E27FC236}">
                <a16:creationId xmlns:a16="http://schemas.microsoft.com/office/drawing/2014/main" id="{F82D37E2-CCD9-D8E6-4445-FCF4790988A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E92D76D-EFC5-E1CC-53A1-4491B8688E13}"/>
              </a:ext>
            </a:extLst>
          </p:cNvPr>
          <p:cNvSpPr>
            <a:spLocks noGrp="1"/>
          </p:cNvSpPr>
          <p:nvPr>
            <p:ph type="sldNum" sz="quarter" idx="12"/>
          </p:nvPr>
        </p:nvSpPr>
        <p:spPr/>
        <p:txBody>
          <a:bodyPr/>
          <a:lstStyle/>
          <a:p>
            <a:fld id="{6EE62625-EC21-420C-B34E-C2A9E291E032}" type="slidenum">
              <a:rPr lang="en-IN" smtClean="0"/>
              <a:t>‹#›</a:t>
            </a:fld>
            <a:endParaRPr lang="en-IN"/>
          </a:p>
        </p:txBody>
      </p:sp>
    </p:spTree>
    <p:extLst>
      <p:ext uri="{BB962C8B-B14F-4D97-AF65-F5344CB8AC3E}">
        <p14:creationId xmlns:p14="http://schemas.microsoft.com/office/powerpoint/2010/main" val="3532543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5C194-2D34-7124-CC62-BD390970BC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3237F7D-B862-D82D-5263-F303925F303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AD63769-9AD8-2A71-9681-8F480DD03F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C20EA7-83D9-7FC5-9D45-002DAF3D1178}"/>
              </a:ext>
            </a:extLst>
          </p:cNvPr>
          <p:cNvSpPr>
            <a:spLocks noGrp="1"/>
          </p:cNvSpPr>
          <p:nvPr>
            <p:ph type="dt" sz="half" idx="10"/>
          </p:nvPr>
        </p:nvSpPr>
        <p:spPr/>
        <p:txBody>
          <a:bodyPr/>
          <a:lstStyle/>
          <a:p>
            <a:fld id="{AE598783-22CF-4617-BC66-6F5B8132EB51}" type="datetimeFigureOut">
              <a:rPr lang="en-IN" smtClean="0"/>
              <a:t>25-11-2025</a:t>
            </a:fld>
            <a:endParaRPr lang="en-IN"/>
          </a:p>
        </p:txBody>
      </p:sp>
      <p:sp>
        <p:nvSpPr>
          <p:cNvPr id="6" name="Footer Placeholder 5">
            <a:extLst>
              <a:ext uri="{FF2B5EF4-FFF2-40B4-BE49-F238E27FC236}">
                <a16:creationId xmlns:a16="http://schemas.microsoft.com/office/drawing/2014/main" id="{BCD785B3-FEAA-EC34-859B-E9ADD10D463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39EA6C6-3B1B-B0F8-FEF0-66EAA883D41A}"/>
              </a:ext>
            </a:extLst>
          </p:cNvPr>
          <p:cNvSpPr>
            <a:spLocks noGrp="1"/>
          </p:cNvSpPr>
          <p:nvPr>
            <p:ph type="sldNum" sz="quarter" idx="12"/>
          </p:nvPr>
        </p:nvSpPr>
        <p:spPr/>
        <p:txBody>
          <a:bodyPr/>
          <a:lstStyle/>
          <a:p>
            <a:fld id="{6EE62625-EC21-420C-B34E-C2A9E291E032}" type="slidenum">
              <a:rPr lang="en-IN" smtClean="0"/>
              <a:t>‹#›</a:t>
            </a:fld>
            <a:endParaRPr lang="en-IN"/>
          </a:p>
        </p:txBody>
      </p:sp>
    </p:spTree>
    <p:extLst>
      <p:ext uri="{BB962C8B-B14F-4D97-AF65-F5344CB8AC3E}">
        <p14:creationId xmlns:p14="http://schemas.microsoft.com/office/powerpoint/2010/main" val="13724999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DAED9-CB91-2C77-D6E1-3F78AE8C58E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30FA152-9F92-BD86-5D76-4B4A49B13C4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762F971-4BA2-DACF-5734-FF9610A1C938}"/>
              </a:ext>
            </a:extLst>
          </p:cNvPr>
          <p:cNvSpPr>
            <a:spLocks noGrp="1"/>
          </p:cNvSpPr>
          <p:nvPr>
            <p:ph type="dt" sz="half" idx="10"/>
          </p:nvPr>
        </p:nvSpPr>
        <p:spPr/>
        <p:txBody>
          <a:bodyPr/>
          <a:lstStyle/>
          <a:p>
            <a:fld id="{AE598783-22CF-4617-BC66-6F5B8132EB51}" type="datetimeFigureOut">
              <a:rPr lang="en-IN" smtClean="0"/>
              <a:t>25-11-2025</a:t>
            </a:fld>
            <a:endParaRPr lang="en-IN"/>
          </a:p>
        </p:txBody>
      </p:sp>
      <p:sp>
        <p:nvSpPr>
          <p:cNvPr id="5" name="Footer Placeholder 4">
            <a:extLst>
              <a:ext uri="{FF2B5EF4-FFF2-40B4-BE49-F238E27FC236}">
                <a16:creationId xmlns:a16="http://schemas.microsoft.com/office/drawing/2014/main" id="{B05B1BC8-6B22-1BB8-0E6F-B76417E947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B5FB46-AA84-0209-B073-4FEB85A3A1E0}"/>
              </a:ext>
            </a:extLst>
          </p:cNvPr>
          <p:cNvSpPr>
            <a:spLocks noGrp="1"/>
          </p:cNvSpPr>
          <p:nvPr>
            <p:ph type="sldNum" sz="quarter" idx="12"/>
          </p:nvPr>
        </p:nvSpPr>
        <p:spPr/>
        <p:txBody>
          <a:bodyPr/>
          <a:lstStyle/>
          <a:p>
            <a:fld id="{6EE62625-EC21-420C-B34E-C2A9E291E032}" type="slidenum">
              <a:rPr lang="en-IN" smtClean="0"/>
              <a:t>‹#›</a:t>
            </a:fld>
            <a:endParaRPr lang="en-IN"/>
          </a:p>
        </p:txBody>
      </p:sp>
    </p:spTree>
    <p:extLst>
      <p:ext uri="{BB962C8B-B14F-4D97-AF65-F5344CB8AC3E}">
        <p14:creationId xmlns:p14="http://schemas.microsoft.com/office/powerpoint/2010/main" val="11518771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9935BC-6EBF-F334-7164-5C8A0B0AACA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EDE5738-E813-875B-102D-5EA0685CE6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B088804-A171-282B-DCA1-C7E92CEEC905}"/>
              </a:ext>
            </a:extLst>
          </p:cNvPr>
          <p:cNvSpPr>
            <a:spLocks noGrp="1"/>
          </p:cNvSpPr>
          <p:nvPr>
            <p:ph type="dt" sz="half" idx="10"/>
          </p:nvPr>
        </p:nvSpPr>
        <p:spPr/>
        <p:txBody>
          <a:bodyPr/>
          <a:lstStyle/>
          <a:p>
            <a:fld id="{AE598783-22CF-4617-BC66-6F5B8132EB51}" type="datetimeFigureOut">
              <a:rPr lang="en-IN" smtClean="0"/>
              <a:t>25-11-2025</a:t>
            </a:fld>
            <a:endParaRPr lang="en-IN"/>
          </a:p>
        </p:txBody>
      </p:sp>
      <p:sp>
        <p:nvSpPr>
          <p:cNvPr id="5" name="Footer Placeholder 4">
            <a:extLst>
              <a:ext uri="{FF2B5EF4-FFF2-40B4-BE49-F238E27FC236}">
                <a16:creationId xmlns:a16="http://schemas.microsoft.com/office/drawing/2014/main" id="{3441A5EC-4ECC-F294-1ED2-AE08FF2E7E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63FB72-F99A-DB90-E457-03584700F5B2}"/>
              </a:ext>
            </a:extLst>
          </p:cNvPr>
          <p:cNvSpPr>
            <a:spLocks noGrp="1"/>
          </p:cNvSpPr>
          <p:nvPr>
            <p:ph type="sldNum" sz="quarter" idx="12"/>
          </p:nvPr>
        </p:nvSpPr>
        <p:spPr/>
        <p:txBody>
          <a:bodyPr/>
          <a:lstStyle/>
          <a:p>
            <a:fld id="{6EE62625-EC21-420C-B34E-C2A9E291E032}" type="slidenum">
              <a:rPr lang="en-IN" smtClean="0"/>
              <a:t>‹#›</a:t>
            </a:fld>
            <a:endParaRPr lang="en-IN"/>
          </a:p>
        </p:txBody>
      </p:sp>
    </p:spTree>
    <p:extLst>
      <p:ext uri="{BB962C8B-B14F-4D97-AF65-F5344CB8AC3E}">
        <p14:creationId xmlns:p14="http://schemas.microsoft.com/office/powerpoint/2010/main" val="1832275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511B6F-671B-72A2-B8BC-D410F55F89F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F630922-4FB0-6C4B-288C-8ACEF1E469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DE2C2C-9B63-3552-4B99-25924B128E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598783-22CF-4617-BC66-6F5B8132EB51}" type="datetimeFigureOut">
              <a:rPr lang="en-IN" smtClean="0"/>
              <a:t>25-11-2025</a:t>
            </a:fld>
            <a:endParaRPr lang="en-IN"/>
          </a:p>
        </p:txBody>
      </p:sp>
      <p:sp>
        <p:nvSpPr>
          <p:cNvPr id="5" name="Footer Placeholder 4">
            <a:extLst>
              <a:ext uri="{FF2B5EF4-FFF2-40B4-BE49-F238E27FC236}">
                <a16:creationId xmlns:a16="http://schemas.microsoft.com/office/drawing/2014/main" id="{819C7300-E189-8737-B0F8-D0D811D6DDB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D74877B-257B-A3D0-131F-83EA7CF9D2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E62625-EC21-420C-B34E-C2A9E291E032}" type="slidenum">
              <a:rPr lang="en-IN" smtClean="0"/>
              <a:t>‹#›</a:t>
            </a:fld>
            <a:endParaRPr lang="en-IN"/>
          </a:p>
        </p:txBody>
      </p:sp>
    </p:spTree>
    <p:extLst>
      <p:ext uri="{BB962C8B-B14F-4D97-AF65-F5344CB8AC3E}">
        <p14:creationId xmlns:p14="http://schemas.microsoft.com/office/powerpoint/2010/main" val="9286984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18A78-5550-BE1A-A54B-A49C9C3A7999}"/>
              </a:ext>
            </a:extLst>
          </p:cNvPr>
          <p:cNvSpPr>
            <a:spLocks noGrp="1"/>
          </p:cNvSpPr>
          <p:nvPr>
            <p:ph type="ctrTitle"/>
          </p:nvPr>
        </p:nvSpPr>
        <p:spPr>
          <a:xfrm>
            <a:off x="1133856" y="480767"/>
            <a:ext cx="9534144" cy="5062194"/>
          </a:xfrm>
        </p:spPr>
        <p:txBody>
          <a:bodyPr>
            <a:noAutofit/>
          </a:bodyPr>
          <a:lstStyle/>
          <a:p>
            <a:r>
              <a:rPr lang="en-GB" u="sng" dirty="0"/>
              <a:t>INTRODUCTION TO PROBLEM SOLVING AND PROGRAMMING PYTHON PROJECT</a:t>
            </a:r>
            <a:br>
              <a:rPr lang="en-GB" u="sng" dirty="0"/>
            </a:br>
            <a:r>
              <a:rPr lang="en-GB" u="sng" dirty="0"/>
              <a:t>(</a:t>
            </a:r>
            <a:r>
              <a:rPr lang="en-GB" b="1" u="sng" dirty="0"/>
              <a:t>BLOOD BANK MANAGEMENT SYSTEM</a:t>
            </a:r>
            <a:r>
              <a:rPr lang="en-GB" u="sng" dirty="0"/>
              <a:t>)</a:t>
            </a:r>
            <a:endParaRPr lang="en-IN" u="sng" dirty="0"/>
          </a:p>
        </p:txBody>
      </p:sp>
      <p:sp>
        <p:nvSpPr>
          <p:cNvPr id="3" name="Subtitle 2">
            <a:extLst>
              <a:ext uri="{FF2B5EF4-FFF2-40B4-BE49-F238E27FC236}">
                <a16:creationId xmlns:a16="http://schemas.microsoft.com/office/drawing/2014/main" id="{8C8148AC-5EA4-56C9-324A-7F0E63C35F4D}"/>
              </a:ext>
            </a:extLst>
          </p:cNvPr>
          <p:cNvSpPr>
            <a:spLocks noGrp="1"/>
          </p:cNvSpPr>
          <p:nvPr>
            <p:ph type="subTitle" idx="1"/>
          </p:nvPr>
        </p:nvSpPr>
        <p:spPr>
          <a:xfrm>
            <a:off x="1800393" y="5769204"/>
            <a:ext cx="10391607" cy="1088796"/>
          </a:xfrm>
        </p:spPr>
        <p:txBody>
          <a:bodyPr/>
          <a:lstStyle/>
          <a:p>
            <a:r>
              <a:rPr lang="en-GB" dirty="0"/>
              <a:t>                                                    </a:t>
            </a:r>
            <a:r>
              <a:rPr lang="en-GB" sz="3200" b="1" dirty="0"/>
              <a:t>BY:-SUJIT TAMIL SELVAN(25BCE10647)</a:t>
            </a:r>
            <a:endParaRPr lang="en-IN" sz="3200" b="1" dirty="0"/>
          </a:p>
        </p:txBody>
      </p:sp>
    </p:spTree>
    <p:extLst>
      <p:ext uri="{BB962C8B-B14F-4D97-AF65-F5344CB8AC3E}">
        <p14:creationId xmlns:p14="http://schemas.microsoft.com/office/powerpoint/2010/main" val="31395536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3AD52-F49F-D505-F9F0-B1AE754B6CC6}"/>
              </a:ext>
            </a:extLst>
          </p:cNvPr>
          <p:cNvSpPr>
            <a:spLocks noGrp="1"/>
          </p:cNvSpPr>
          <p:nvPr>
            <p:ph type="title"/>
          </p:nvPr>
        </p:nvSpPr>
        <p:spPr/>
        <p:txBody>
          <a:bodyPr>
            <a:normAutofit/>
          </a:bodyPr>
          <a:lstStyle/>
          <a:p>
            <a:r>
              <a:rPr lang="en-GB" sz="6000" b="1" dirty="0"/>
              <a:t>INTRODUCTION:-</a:t>
            </a:r>
            <a:endParaRPr lang="en-IN" sz="6000" b="1" dirty="0"/>
          </a:p>
        </p:txBody>
      </p:sp>
      <p:sp>
        <p:nvSpPr>
          <p:cNvPr id="3" name="Content Placeholder 2">
            <a:extLst>
              <a:ext uri="{FF2B5EF4-FFF2-40B4-BE49-F238E27FC236}">
                <a16:creationId xmlns:a16="http://schemas.microsoft.com/office/drawing/2014/main" id="{1448EB1A-259F-AAC3-809D-67F53E9EF6F3}"/>
              </a:ext>
            </a:extLst>
          </p:cNvPr>
          <p:cNvSpPr>
            <a:spLocks noGrp="1"/>
          </p:cNvSpPr>
          <p:nvPr>
            <p:ph idx="1"/>
          </p:nvPr>
        </p:nvSpPr>
        <p:spPr/>
        <p:txBody>
          <a:bodyPr>
            <a:normAutofit/>
          </a:bodyPr>
          <a:lstStyle/>
          <a:p>
            <a:r>
              <a:rPr lang="en-GB" sz="4000" dirty="0"/>
              <a:t>A Blood Bank Management serves as the central technological backbone of the Blood Bank, moving beyond manual paper-based processes to provide a secure, efficient, and user-friendly platform for both bank and donors.</a:t>
            </a:r>
            <a:endParaRPr lang="en-IN" sz="4000" dirty="0"/>
          </a:p>
        </p:txBody>
      </p:sp>
    </p:spTree>
    <p:extLst>
      <p:ext uri="{BB962C8B-B14F-4D97-AF65-F5344CB8AC3E}">
        <p14:creationId xmlns:p14="http://schemas.microsoft.com/office/powerpoint/2010/main" val="3179397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0BCC6-01C4-47D3-1386-AEF287B79C96}"/>
              </a:ext>
            </a:extLst>
          </p:cNvPr>
          <p:cNvSpPr>
            <a:spLocks noGrp="1"/>
          </p:cNvSpPr>
          <p:nvPr>
            <p:ph type="title"/>
          </p:nvPr>
        </p:nvSpPr>
        <p:spPr/>
        <p:txBody>
          <a:bodyPr>
            <a:normAutofit/>
          </a:bodyPr>
          <a:lstStyle/>
          <a:p>
            <a:r>
              <a:rPr lang="en-GB" sz="6000" b="1" dirty="0"/>
              <a:t>PROBLEM STATEMENT:-</a:t>
            </a:r>
            <a:endParaRPr lang="en-IN" sz="6000" b="1" dirty="0"/>
          </a:p>
        </p:txBody>
      </p:sp>
      <p:sp>
        <p:nvSpPr>
          <p:cNvPr id="3" name="Content Placeholder 2">
            <a:extLst>
              <a:ext uri="{FF2B5EF4-FFF2-40B4-BE49-F238E27FC236}">
                <a16:creationId xmlns:a16="http://schemas.microsoft.com/office/drawing/2014/main" id="{21CF51AE-85F3-CD99-5D9C-8438AFEAC753}"/>
              </a:ext>
            </a:extLst>
          </p:cNvPr>
          <p:cNvSpPr>
            <a:spLocks noGrp="1"/>
          </p:cNvSpPr>
          <p:nvPr>
            <p:ph sz="half" idx="1"/>
          </p:nvPr>
        </p:nvSpPr>
        <p:spPr/>
        <p:txBody>
          <a:bodyPr>
            <a:normAutofit/>
          </a:bodyPr>
          <a:lstStyle/>
          <a:p>
            <a:r>
              <a:rPr lang="en-GB" u="sng" dirty="0">
                <a:solidFill>
                  <a:srgbClr val="FF0000"/>
                </a:solidFill>
              </a:rPr>
              <a:t>PROBLEM:-</a:t>
            </a:r>
          </a:p>
          <a:p>
            <a:pPr marL="0" indent="0">
              <a:buNone/>
            </a:pPr>
            <a:r>
              <a:rPr lang="en-GB" dirty="0"/>
              <a:t>The existing manual or fragmented blood bank management processes are characterized by critical inefficiencies, including data inaccuracy due to human error, poor data security and an inability to generate timely, comprehensive reports.</a:t>
            </a:r>
            <a:endParaRPr lang="en-IN" dirty="0"/>
          </a:p>
        </p:txBody>
      </p:sp>
      <p:sp>
        <p:nvSpPr>
          <p:cNvPr id="4" name="Content Placeholder 3">
            <a:extLst>
              <a:ext uri="{FF2B5EF4-FFF2-40B4-BE49-F238E27FC236}">
                <a16:creationId xmlns:a16="http://schemas.microsoft.com/office/drawing/2014/main" id="{09F0491B-02E3-D2C7-EA16-AB91C5386D5A}"/>
              </a:ext>
            </a:extLst>
          </p:cNvPr>
          <p:cNvSpPr>
            <a:spLocks noGrp="1"/>
          </p:cNvSpPr>
          <p:nvPr>
            <p:ph sz="half" idx="2"/>
          </p:nvPr>
        </p:nvSpPr>
        <p:spPr/>
        <p:txBody>
          <a:bodyPr>
            <a:normAutofit/>
          </a:bodyPr>
          <a:lstStyle/>
          <a:p>
            <a:r>
              <a:rPr lang="en-GB" u="sng" dirty="0">
                <a:solidFill>
                  <a:srgbClr val="92D050"/>
                </a:solidFill>
              </a:rPr>
              <a:t>SOLUTION:-</a:t>
            </a:r>
          </a:p>
          <a:p>
            <a:pPr marL="0" indent="0">
              <a:buNone/>
            </a:pPr>
            <a:r>
              <a:rPr lang="en-GB" dirty="0"/>
              <a:t>Implement a centralized, computerized Blood Bank Management featuring a secure database and a multi-tiered access control structure.</a:t>
            </a:r>
            <a:endParaRPr lang="en-IN" dirty="0"/>
          </a:p>
        </p:txBody>
      </p:sp>
    </p:spTree>
    <p:extLst>
      <p:ext uri="{BB962C8B-B14F-4D97-AF65-F5344CB8AC3E}">
        <p14:creationId xmlns:p14="http://schemas.microsoft.com/office/powerpoint/2010/main" val="3405077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742BE-4B46-ECB3-8376-4C16371A26E3}"/>
              </a:ext>
            </a:extLst>
          </p:cNvPr>
          <p:cNvSpPr>
            <a:spLocks noGrp="1"/>
          </p:cNvSpPr>
          <p:nvPr>
            <p:ph type="title"/>
          </p:nvPr>
        </p:nvSpPr>
        <p:spPr/>
        <p:txBody>
          <a:bodyPr>
            <a:normAutofit/>
          </a:bodyPr>
          <a:lstStyle/>
          <a:p>
            <a:r>
              <a:rPr lang="en-GB" sz="6000" b="1" dirty="0"/>
              <a:t>FUNCTIONAL REQUIREMENTS:-</a:t>
            </a:r>
            <a:endParaRPr lang="en-IN" sz="6000" b="1" dirty="0"/>
          </a:p>
        </p:txBody>
      </p:sp>
      <p:sp>
        <p:nvSpPr>
          <p:cNvPr id="3" name="Content Placeholder 2">
            <a:extLst>
              <a:ext uri="{FF2B5EF4-FFF2-40B4-BE49-F238E27FC236}">
                <a16:creationId xmlns:a16="http://schemas.microsoft.com/office/drawing/2014/main" id="{6524F284-C638-081C-C704-0FE1756503ED}"/>
              </a:ext>
            </a:extLst>
          </p:cNvPr>
          <p:cNvSpPr>
            <a:spLocks noGrp="1"/>
          </p:cNvSpPr>
          <p:nvPr>
            <p:ph idx="1"/>
          </p:nvPr>
        </p:nvSpPr>
        <p:spPr/>
        <p:txBody>
          <a:bodyPr/>
          <a:lstStyle/>
          <a:p>
            <a:r>
              <a:rPr lang="en-GB" u="sng" dirty="0"/>
              <a:t>Donor ID management module:-</a:t>
            </a:r>
            <a:r>
              <a:rPr lang="en-GB" dirty="0"/>
              <a:t>The system must allow Blood bank to automatically generate a unique Donor ID number.</a:t>
            </a:r>
          </a:p>
          <a:p>
            <a:r>
              <a:rPr lang="en-GB" u="sng" dirty="0"/>
              <a:t>Donor management module:-</a:t>
            </a:r>
            <a:r>
              <a:rPr lang="en-GB" dirty="0"/>
              <a:t>The system must allow a Blood Bank employee to create a new Donor profile and capture personal information.</a:t>
            </a:r>
          </a:p>
          <a:p>
            <a:endParaRPr lang="en-IN" dirty="0"/>
          </a:p>
        </p:txBody>
      </p:sp>
    </p:spTree>
    <p:extLst>
      <p:ext uri="{BB962C8B-B14F-4D97-AF65-F5344CB8AC3E}">
        <p14:creationId xmlns:p14="http://schemas.microsoft.com/office/powerpoint/2010/main" val="1822919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C03B0-8AED-3A5E-E786-4955F5248AFE}"/>
              </a:ext>
            </a:extLst>
          </p:cNvPr>
          <p:cNvSpPr>
            <a:spLocks noGrp="1"/>
          </p:cNvSpPr>
          <p:nvPr>
            <p:ph type="title"/>
          </p:nvPr>
        </p:nvSpPr>
        <p:spPr/>
        <p:txBody>
          <a:bodyPr>
            <a:noAutofit/>
          </a:bodyPr>
          <a:lstStyle/>
          <a:p>
            <a:r>
              <a:rPr lang="en-GB" sz="5400" b="1" dirty="0"/>
              <a:t>NON-FUNCTIONAL REQUIREMENTS:-</a:t>
            </a:r>
            <a:endParaRPr lang="en-IN" sz="5400" b="1" dirty="0"/>
          </a:p>
        </p:txBody>
      </p:sp>
      <p:sp>
        <p:nvSpPr>
          <p:cNvPr id="3" name="Content Placeholder 2">
            <a:extLst>
              <a:ext uri="{FF2B5EF4-FFF2-40B4-BE49-F238E27FC236}">
                <a16:creationId xmlns:a16="http://schemas.microsoft.com/office/drawing/2014/main" id="{EA48A3F7-A1BF-94D9-E140-B87C71BE66D6}"/>
              </a:ext>
            </a:extLst>
          </p:cNvPr>
          <p:cNvSpPr>
            <a:spLocks noGrp="1"/>
          </p:cNvSpPr>
          <p:nvPr>
            <p:ph idx="1"/>
          </p:nvPr>
        </p:nvSpPr>
        <p:spPr/>
        <p:txBody>
          <a:bodyPr>
            <a:normAutofit/>
          </a:bodyPr>
          <a:lstStyle/>
          <a:p>
            <a:pPr marL="0" indent="0">
              <a:buNone/>
            </a:pPr>
            <a:r>
              <a:rPr lang="en-GB" dirty="0"/>
              <a:t>1.</a:t>
            </a:r>
            <a:r>
              <a:rPr lang="en-GB" u="sng" dirty="0"/>
              <a:t>Usability:-</a:t>
            </a:r>
            <a:r>
              <a:rPr lang="en-GB" dirty="0"/>
              <a:t>The interface must be a simple Command Line Interface (CLI) navigable by non-technical users. </a:t>
            </a:r>
          </a:p>
          <a:p>
            <a:pPr marL="0" indent="0">
              <a:buNone/>
            </a:pPr>
            <a:r>
              <a:rPr lang="en-GB" dirty="0"/>
              <a:t>2.</a:t>
            </a:r>
            <a:r>
              <a:rPr lang="en-GB" u="sng" dirty="0"/>
              <a:t>Reliability:-</a:t>
            </a:r>
            <a:r>
              <a:rPr lang="en-GB" dirty="0"/>
              <a:t>The system must handle invalid inputs gracefully without crashing (e.g., inputs other than specific options). </a:t>
            </a:r>
          </a:p>
          <a:p>
            <a:pPr marL="0" indent="0">
              <a:buNone/>
            </a:pPr>
            <a:r>
              <a:rPr lang="en-GB" dirty="0"/>
              <a:t>3.</a:t>
            </a:r>
            <a:r>
              <a:rPr lang="en-GB" u="sng" dirty="0"/>
              <a:t>Performance:-</a:t>
            </a:r>
            <a:r>
              <a:rPr lang="en-GB" dirty="0"/>
              <a:t>The system must respond to user inputs instantly             (&lt; 0.1 seconds). </a:t>
            </a:r>
          </a:p>
          <a:p>
            <a:pPr marL="0" indent="0">
              <a:buNone/>
            </a:pPr>
            <a:r>
              <a:rPr lang="en-GB" dirty="0"/>
              <a:t>4.</a:t>
            </a:r>
            <a:r>
              <a:rPr lang="en-GB" u="sng" dirty="0"/>
              <a:t>Offline Availability:-</a:t>
            </a:r>
            <a:r>
              <a:rPr lang="en-GB" dirty="0"/>
              <a:t>The system must function 100% without an internet connection.</a:t>
            </a:r>
            <a:endParaRPr lang="en-IN" dirty="0"/>
          </a:p>
        </p:txBody>
      </p:sp>
    </p:spTree>
    <p:extLst>
      <p:ext uri="{BB962C8B-B14F-4D97-AF65-F5344CB8AC3E}">
        <p14:creationId xmlns:p14="http://schemas.microsoft.com/office/powerpoint/2010/main" val="9683181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95F6D-FBFA-E12F-3F6C-057F8108B881}"/>
              </a:ext>
            </a:extLst>
          </p:cNvPr>
          <p:cNvSpPr>
            <a:spLocks noGrp="1"/>
          </p:cNvSpPr>
          <p:nvPr>
            <p:ph type="title"/>
          </p:nvPr>
        </p:nvSpPr>
        <p:spPr/>
        <p:txBody>
          <a:bodyPr>
            <a:normAutofit/>
          </a:bodyPr>
          <a:lstStyle/>
          <a:p>
            <a:r>
              <a:rPr lang="en-IN" sz="6000" b="1" dirty="0"/>
              <a:t>SYSTEM ARCHITECTURE:-</a:t>
            </a:r>
          </a:p>
        </p:txBody>
      </p:sp>
      <p:pic>
        <p:nvPicPr>
          <p:cNvPr id="8" name="Content Placeholder 7">
            <a:extLst>
              <a:ext uri="{FF2B5EF4-FFF2-40B4-BE49-F238E27FC236}">
                <a16:creationId xmlns:a16="http://schemas.microsoft.com/office/drawing/2014/main" id="{30945FC0-54DC-9012-8570-ABDFC7BD0E7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352484" y="2184876"/>
            <a:ext cx="7724775" cy="3724275"/>
          </a:xfrm>
        </p:spPr>
      </p:pic>
    </p:spTree>
    <p:extLst>
      <p:ext uri="{BB962C8B-B14F-4D97-AF65-F5344CB8AC3E}">
        <p14:creationId xmlns:p14="http://schemas.microsoft.com/office/powerpoint/2010/main" val="42711354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6C04A-1E2E-B23B-BBE3-B08F05D8E558}"/>
              </a:ext>
            </a:extLst>
          </p:cNvPr>
          <p:cNvSpPr>
            <a:spLocks noGrp="1"/>
          </p:cNvSpPr>
          <p:nvPr>
            <p:ph type="title"/>
          </p:nvPr>
        </p:nvSpPr>
        <p:spPr>
          <a:xfrm>
            <a:off x="75416" y="457200"/>
            <a:ext cx="3648174" cy="1600200"/>
          </a:xfrm>
        </p:spPr>
        <p:txBody>
          <a:bodyPr>
            <a:normAutofit fontScale="90000"/>
          </a:bodyPr>
          <a:lstStyle/>
          <a:p>
            <a:r>
              <a:rPr lang="en-IN" sz="6000" b="1" dirty="0"/>
              <a:t>DESIGN DIAGRAMS </a:t>
            </a:r>
          </a:p>
        </p:txBody>
      </p:sp>
      <p:sp>
        <p:nvSpPr>
          <p:cNvPr id="6" name="Text Placeholder 5">
            <a:extLst>
              <a:ext uri="{FF2B5EF4-FFF2-40B4-BE49-F238E27FC236}">
                <a16:creationId xmlns:a16="http://schemas.microsoft.com/office/drawing/2014/main" id="{E0C6E28F-8117-9676-37D3-808AEB8FF416}"/>
              </a:ext>
            </a:extLst>
          </p:cNvPr>
          <p:cNvSpPr>
            <a:spLocks noGrp="1"/>
          </p:cNvSpPr>
          <p:nvPr>
            <p:ph type="body" sz="half" idx="2"/>
          </p:nvPr>
        </p:nvSpPr>
        <p:spPr>
          <a:xfrm>
            <a:off x="75415" y="2057400"/>
            <a:ext cx="3648174" cy="3811588"/>
          </a:xfrm>
        </p:spPr>
        <p:txBody>
          <a:bodyPr>
            <a:normAutofit/>
          </a:bodyPr>
          <a:lstStyle/>
          <a:p>
            <a:r>
              <a:rPr lang="en-IN" sz="6000" dirty="0"/>
              <a:t>(Workflow Diagram):-</a:t>
            </a:r>
          </a:p>
        </p:txBody>
      </p:sp>
      <p:pic>
        <p:nvPicPr>
          <p:cNvPr id="7" name="Content Placeholder 6">
            <a:extLst>
              <a:ext uri="{FF2B5EF4-FFF2-40B4-BE49-F238E27FC236}">
                <a16:creationId xmlns:a16="http://schemas.microsoft.com/office/drawing/2014/main" id="{495159C7-FF66-74F6-3DE4-CC07C84C9E0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83188" y="1028784"/>
            <a:ext cx="6172200" cy="4790906"/>
          </a:xfrm>
        </p:spPr>
      </p:pic>
    </p:spTree>
    <p:extLst>
      <p:ext uri="{BB962C8B-B14F-4D97-AF65-F5344CB8AC3E}">
        <p14:creationId xmlns:p14="http://schemas.microsoft.com/office/powerpoint/2010/main" val="41816738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9754B-C591-8578-5F9C-3E8EB0408E61}"/>
              </a:ext>
            </a:extLst>
          </p:cNvPr>
          <p:cNvSpPr>
            <a:spLocks noGrp="1"/>
          </p:cNvSpPr>
          <p:nvPr>
            <p:ph type="title"/>
          </p:nvPr>
        </p:nvSpPr>
        <p:spPr>
          <a:xfrm>
            <a:off x="838200" y="188537"/>
            <a:ext cx="10515600" cy="1282044"/>
          </a:xfrm>
        </p:spPr>
        <p:txBody>
          <a:bodyPr>
            <a:normAutofit fontScale="90000"/>
          </a:bodyPr>
          <a:lstStyle/>
          <a:p>
            <a:r>
              <a:rPr lang="en-IN" sz="6000" b="1" dirty="0"/>
              <a:t>DESIGN DECISIONS &amp; RATIONALE :-</a:t>
            </a:r>
          </a:p>
        </p:txBody>
      </p:sp>
      <p:sp>
        <p:nvSpPr>
          <p:cNvPr id="3" name="Content Placeholder 2">
            <a:extLst>
              <a:ext uri="{FF2B5EF4-FFF2-40B4-BE49-F238E27FC236}">
                <a16:creationId xmlns:a16="http://schemas.microsoft.com/office/drawing/2014/main" id="{31633329-F97C-76BC-0493-19CF6E9B827C}"/>
              </a:ext>
            </a:extLst>
          </p:cNvPr>
          <p:cNvSpPr>
            <a:spLocks noGrp="1"/>
          </p:cNvSpPr>
          <p:nvPr>
            <p:ph idx="1"/>
          </p:nvPr>
        </p:nvSpPr>
        <p:spPr>
          <a:xfrm>
            <a:off x="838200" y="1470582"/>
            <a:ext cx="10515600" cy="5297864"/>
          </a:xfrm>
        </p:spPr>
        <p:txBody>
          <a:bodyPr>
            <a:normAutofit/>
          </a:bodyPr>
          <a:lstStyle/>
          <a:p>
            <a:r>
              <a:rPr lang="en-GB" u="sng" dirty="0"/>
              <a:t>Use of Python Dictionaries:-</a:t>
            </a:r>
            <a:r>
              <a:rPr lang="en-GB" dirty="0"/>
              <a:t>We chose nested dictionaries to represent the symptom tree.</a:t>
            </a:r>
          </a:p>
          <a:p>
            <a:endParaRPr lang="en-GB" dirty="0"/>
          </a:p>
          <a:p>
            <a:r>
              <a:rPr lang="en-GB" u="sng" dirty="0"/>
              <a:t>Rationale:-</a:t>
            </a:r>
            <a:r>
              <a:rPr lang="en-GB" dirty="0"/>
              <a:t>This allows for O(1) lookup time and makes it incredibly easy to add new symptoms without modifying the core code logic.</a:t>
            </a:r>
          </a:p>
          <a:p>
            <a:endParaRPr lang="en-GB" dirty="0"/>
          </a:p>
          <a:p>
            <a:r>
              <a:rPr lang="en-GB" u="sng" dirty="0"/>
              <a:t>Command Line Interface (CLI):-</a:t>
            </a:r>
            <a:r>
              <a:rPr lang="en-GB" dirty="0"/>
              <a:t>We chose a text-based interface.</a:t>
            </a:r>
          </a:p>
          <a:p>
            <a:endParaRPr lang="en-GB" dirty="0"/>
          </a:p>
          <a:p>
            <a:r>
              <a:rPr lang="en-GB" u="sng" dirty="0"/>
              <a:t>Rationale:-</a:t>
            </a:r>
            <a:r>
              <a:rPr lang="en-GB" dirty="0"/>
              <a:t>It ensures the application is lightweight and can run on older hardware often found in resource-constrained environments.</a:t>
            </a:r>
            <a:endParaRPr lang="en-IN" dirty="0"/>
          </a:p>
        </p:txBody>
      </p:sp>
    </p:spTree>
    <p:extLst>
      <p:ext uri="{BB962C8B-B14F-4D97-AF65-F5344CB8AC3E}">
        <p14:creationId xmlns:p14="http://schemas.microsoft.com/office/powerpoint/2010/main" val="27782078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23FA9-EC12-6B1A-1681-54CD92931C65}"/>
              </a:ext>
            </a:extLst>
          </p:cNvPr>
          <p:cNvSpPr>
            <a:spLocks noGrp="1"/>
          </p:cNvSpPr>
          <p:nvPr>
            <p:ph type="title"/>
          </p:nvPr>
        </p:nvSpPr>
        <p:spPr/>
        <p:txBody>
          <a:bodyPr>
            <a:normAutofit/>
          </a:bodyPr>
          <a:lstStyle/>
          <a:p>
            <a:r>
              <a:rPr lang="en-GB" sz="6000" b="1" dirty="0"/>
              <a:t>IMPLEMENTATION DETAILS:-</a:t>
            </a:r>
            <a:endParaRPr lang="en-IN" sz="6000" b="1" dirty="0"/>
          </a:p>
        </p:txBody>
      </p:sp>
      <p:sp>
        <p:nvSpPr>
          <p:cNvPr id="3" name="Content Placeholder 2">
            <a:extLst>
              <a:ext uri="{FF2B5EF4-FFF2-40B4-BE49-F238E27FC236}">
                <a16:creationId xmlns:a16="http://schemas.microsoft.com/office/drawing/2014/main" id="{19DAD735-51E6-DCD8-3F8D-905B0303AC33}"/>
              </a:ext>
            </a:extLst>
          </p:cNvPr>
          <p:cNvSpPr>
            <a:spLocks noGrp="1"/>
          </p:cNvSpPr>
          <p:nvPr>
            <p:ph idx="1"/>
          </p:nvPr>
        </p:nvSpPr>
        <p:spPr>
          <a:xfrm>
            <a:off x="838200" y="1825625"/>
            <a:ext cx="10515600" cy="4667250"/>
          </a:xfrm>
        </p:spPr>
        <p:txBody>
          <a:bodyPr>
            <a:normAutofit/>
          </a:bodyPr>
          <a:lstStyle/>
          <a:p>
            <a:r>
              <a:rPr lang="en-GB" dirty="0"/>
              <a:t>The project is implemented in Python 3.10 using a modular folder structure: </a:t>
            </a:r>
          </a:p>
          <a:p>
            <a:endParaRPr lang="en-GB" u="sng" dirty="0"/>
          </a:p>
          <a:p>
            <a:pPr marL="0" indent="0">
              <a:buNone/>
            </a:pPr>
            <a:r>
              <a:rPr lang="en-GB" dirty="0"/>
              <a:t>1.</a:t>
            </a:r>
            <a:r>
              <a:rPr lang="en-GB" u="sng" dirty="0"/>
              <a:t>main:-</a:t>
            </a:r>
            <a:r>
              <a:rPr lang="en-GB" dirty="0"/>
              <a:t>The entry point containing the main `while’ loop.</a:t>
            </a:r>
          </a:p>
          <a:p>
            <a:pPr marL="0" indent="0">
              <a:buNone/>
            </a:pPr>
            <a:r>
              <a:rPr lang="en-GB" dirty="0"/>
              <a:t>2.</a:t>
            </a:r>
            <a:r>
              <a:rPr lang="en-GB" u="sng" dirty="0"/>
              <a:t>Create:-</a:t>
            </a:r>
            <a:r>
              <a:rPr lang="en-GB" dirty="0"/>
              <a:t>It helps in creating a file.</a:t>
            </a:r>
          </a:p>
          <a:p>
            <a:pPr marL="0" indent="0">
              <a:buNone/>
            </a:pPr>
            <a:r>
              <a:rPr lang="en-GB" dirty="0"/>
              <a:t>3.</a:t>
            </a:r>
            <a:r>
              <a:rPr lang="en-GB" u="sng" dirty="0"/>
              <a:t>Display:-</a:t>
            </a:r>
            <a:r>
              <a:rPr lang="en-GB" dirty="0"/>
              <a:t>It helps in displaying the file.</a:t>
            </a:r>
          </a:p>
          <a:p>
            <a:pPr marL="0" indent="0">
              <a:buNone/>
            </a:pPr>
            <a:r>
              <a:rPr lang="en-GB" dirty="0"/>
              <a:t>4.</a:t>
            </a:r>
            <a:r>
              <a:rPr lang="en-GB" u="sng" dirty="0"/>
              <a:t>Search:-</a:t>
            </a:r>
            <a:r>
              <a:rPr lang="en-GB" dirty="0"/>
              <a:t>It helps in withdrawing amount from an account.</a:t>
            </a:r>
          </a:p>
          <a:p>
            <a:pPr marL="0" indent="0">
              <a:buNone/>
            </a:pPr>
            <a:r>
              <a:rPr lang="en-GB" dirty="0"/>
              <a:t>5.</a:t>
            </a:r>
            <a:r>
              <a:rPr lang="en-GB" u="sng" dirty="0"/>
              <a:t>Display_account:-</a:t>
            </a:r>
            <a:r>
              <a:rPr lang="en-GB" dirty="0"/>
              <a:t>It helps in displaying information of an account.</a:t>
            </a:r>
          </a:p>
          <a:p>
            <a:pPr marL="0" indent="0">
              <a:buNone/>
            </a:pPr>
            <a:r>
              <a:rPr lang="en-GB" dirty="0"/>
              <a:t>6.</a:t>
            </a:r>
            <a:r>
              <a:rPr lang="en-GB" u="sng" dirty="0"/>
              <a:t>Delete_account:-</a:t>
            </a:r>
            <a:r>
              <a:rPr lang="en-GB" dirty="0"/>
              <a:t>It helps to delete an existing account.</a:t>
            </a:r>
            <a:endParaRPr lang="en-IN" u="sng" dirty="0"/>
          </a:p>
        </p:txBody>
      </p:sp>
    </p:spTree>
    <p:extLst>
      <p:ext uri="{BB962C8B-B14F-4D97-AF65-F5344CB8AC3E}">
        <p14:creationId xmlns:p14="http://schemas.microsoft.com/office/powerpoint/2010/main" val="39894212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CED9B-5493-E6CC-D4E3-0440016F8821}"/>
              </a:ext>
            </a:extLst>
          </p:cNvPr>
          <p:cNvSpPr>
            <a:spLocks noGrp="1"/>
          </p:cNvSpPr>
          <p:nvPr>
            <p:ph type="title"/>
          </p:nvPr>
        </p:nvSpPr>
        <p:spPr/>
        <p:txBody>
          <a:bodyPr>
            <a:normAutofit/>
          </a:bodyPr>
          <a:lstStyle/>
          <a:p>
            <a:r>
              <a:rPr lang="en-IN" sz="6000" b="1" dirty="0"/>
              <a:t>OUTPUTS:-</a:t>
            </a:r>
          </a:p>
        </p:txBody>
      </p:sp>
      <p:sp>
        <p:nvSpPr>
          <p:cNvPr id="9" name="Text Placeholder 8">
            <a:extLst>
              <a:ext uri="{FF2B5EF4-FFF2-40B4-BE49-F238E27FC236}">
                <a16:creationId xmlns:a16="http://schemas.microsoft.com/office/drawing/2014/main" id="{E2CA804B-D864-6D8B-AE83-F8A7E037BE23}"/>
              </a:ext>
            </a:extLst>
          </p:cNvPr>
          <p:cNvSpPr>
            <a:spLocks noGrp="1"/>
          </p:cNvSpPr>
          <p:nvPr>
            <p:ph type="body" idx="1"/>
          </p:nvPr>
        </p:nvSpPr>
        <p:spPr>
          <a:xfrm>
            <a:off x="0" y="1681163"/>
            <a:ext cx="5997575" cy="487002"/>
          </a:xfrm>
        </p:spPr>
        <p:txBody>
          <a:bodyPr>
            <a:noAutofit/>
          </a:bodyPr>
          <a:lstStyle/>
          <a:p>
            <a:r>
              <a:rPr lang="en-IN" sz="4400" b="0" u="sng" dirty="0"/>
              <a:t>Creating an account:-</a:t>
            </a:r>
          </a:p>
        </p:txBody>
      </p:sp>
      <p:pic>
        <p:nvPicPr>
          <p:cNvPr id="5" name="Content Placeholder 4">
            <a:extLst>
              <a:ext uri="{FF2B5EF4-FFF2-40B4-BE49-F238E27FC236}">
                <a16:creationId xmlns:a16="http://schemas.microsoft.com/office/drawing/2014/main" id="{E229E772-7B55-FF5D-8680-4693638D9464}"/>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0" y="2413262"/>
            <a:ext cx="5997575" cy="3497344"/>
          </a:xfrm>
        </p:spPr>
      </p:pic>
      <p:sp>
        <p:nvSpPr>
          <p:cNvPr id="10" name="Text Placeholder 9">
            <a:extLst>
              <a:ext uri="{FF2B5EF4-FFF2-40B4-BE49-F238E27FC236}">
                <a16:creationId xmlns:a16="http://schemas.microsoft.com/office/drawing/2014/main" id="{9D1F65EF-B92F-0840-0A6E-113382E3963D}"/>
              </a:ext>
            </a:extLst>
          </p:cNvPr>
          <p:cNvSpPr>
            <a:spLocks noGrp="1"/>
          </p:cNvSpPr>
          <p:nvPr>
            <p:ph type="body" sz="quarter" idx="3"/>
          </p:nvPr>
        </p:nvSpPr>
        <p:spPr>
          <a:xfrm>
            <a:off x="6172200" y="1681163"/>
            <a:ext cx="5183188" cy="487002"/>
          </a:xfrm>
        </p:spPr>
        <p:txBody>
          <a:bodyPr>
            <a:noAutofit/>
          </a:bodyPr>
          <a:lstStyle/>
          <a:p>
            <a:r>
              <a:rPr lang="en-IN" sz="4400" b="0" u="sng" dirty="0"/>
              <a:t>Depositing amount:-</a:t>
            </a:r>
          </a:p>
        </p:txBody>
      </p:sp>
      <p:pic>
        <p:nvPicPr>
          <p:cNvPr id="8" name="Content Placeholder 7">
            <a:extLst>
              <a:ext uri="{FF2B5EF4-FFF2-40B4-BE49-F238E27FC236}">
                <a16:creationId xmlns:a16="http://schemas.microsoft.com/office/drawing/2014/main" id="{62E7E16D-2332-8F4D-BBE1-282CCC0D6F13}"/>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172200" y="2413262"/>
            <a:ext cx="5344997" cy="3497343"/>
          </a:xfrm>
        </p:spPr>
      </p:pic>
    </p:spTree>
    <p:extLst>
      <p:ext uri="{BB962C8B-B14F-4D97-AF65-F5344CB8AC3E}">
        <p14:creationId xmlns:p14="http://schemas.microsoft.com/office/powerpoint/2010/main" val="22741339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B3FF1-1457-C1B1-9329-D5588214FBAB}"/>
              </a:ext>
            </a:extLst>
          </p:cNvPr>
          <p:cNvSpPr>
            <a:spLocks noGrp="1"/>
          </p:cNvSpPr>
          <p:nvPr>
            <p:ph type="title"/>
          </p:nvPr>
        </p:nvSpPr>
        <p:spPr/>
        <p:txBody>
          <a:bodyPr>
            <a:normAutofit/>
          </a:bodyPr>
          <a:lstStyle/>
          <a:p>
            <a:r>
              <a:rPr lang="en-IN" sz="6000" b="1" dirty="0"/>
              <a:t>OUTPUTS:-</a:t>
            </a:r>
          </a:p>
        </p:txBody>
      </p:sp>
      <p:sp>
        <p:nvSpPr>
          <p:cNvPr id="3" name="Text Placeholder 2">
            <a:extLst>
              <a:ext uri="{FF2B5EF4-FFF2-40B4-BE49-F238E27FC236}">
                <a16:creationId xmlns:a16="http://schemas.microsoft.com/office/drawing/2014/main" id="{6C3FD763-AF4B-2398-3AD1-530CF4087DBB}"/>
              </a:ext>
            </a:extLst>
          </p:cNvPr>
          <p:cNvSpPr>
            <a:spLocks noGrp="1"/>
          </p:cNvSpPr>
          <p:nvPr>
            <p:ph type="body" idx="1"/>
          </p:nvPr>
        </p:nvSpPr>
        <p:spPr>
          <a:xfrm>
            <a:off x="0" y="1681163"/>
            <a:ext cx="5997575" cy="694392"/>
          </a:xfrm>
        </p:spPr>
        <p:txBody>
          <a:bodyPr>
            <a:noAutofit/>
          </a:bodyPr>
          <a:lstStyle/>
          <a:p>
            <a:r>
              <a:rPr lang="en-IN" sz="4400" b="0" u="sng" dirty="0"/>
              <a:t>Withdrawing amount:-</a:t>
            </a:r>
          </a:p>
        </p:txBody>
      </p:sp>
      <p:pic>
        <p:nvPicPr>
          <p:cNvPr id="8" name="Content Placeholder 7">
            <a:extLst>
              <a:ext uri="{FF2B5EF4-FFF2-40B4-BE49-F238E27FC236}">
                <a16:creationId xmlns:a16="http://schemas.microsoft.com/office/drawing/2014/main" id="{4C617A07-2700-3D7E-94D5-B6F7BEFC8215}"/>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0" y="2505076"/>
            <a:ext cx="5095081" cy="3099592"/>
          </a:xfrm>
        </p:spPr>
      </p:pic>
      <p:sp>
        <p:nvSpPr>
          <p:cNvPr id="5" name="Text Placeholder 4">
            <a:extLst>
              <a:ext uri="{FF2B5EF4-FFF2-40B4-BE49-F238E27FC236}">
                <a16:creationId xmlns:a16="http://schemas.microsoft.com/office/drawing/2014/main" id="{69EA85E0-184C-B639-44BE-888300445221}"/>
              </a:ext>
            </a:extLst>
          </p:cNvPr>
          <p:cNvSpPr>
            <a:spLocks noGrp="1"/>
          </p:cNvSpPr>
          <p:nvPr>
            <p:ph type="body" sz="quarter" idx="3"/>
          </p:nvPr>
        </p:nvSpPr>
        <p:spPr>
          <a:xfrm>
            <a:off x="6169024" y="1665599"/>
            <a:ext cx="5183188" cy="823912"/>
          </a:xfrm>
        </p:spPr>
        <p:txBody>
          <a:bodyPr>
            <a:normAutofit/>
          </a:bodyPr>
          <a:lstStyle/>
          <a:p>
            <a:r>
              <a:rPr lang="en-IN" sz="4400" b="0" u="sng" dirty="0"/>
              <a:t>Displaying account:-</a:t>
            </a:r>
          </a:p>
        </p:txBody>
      </p:sp>
      <p:pic>
        <p:nvPicPr>
          <p:cNvPr id="10" name="Content Placeholder 9">
            <a:extLst>
              <a:ext uri="{FF2B5EF4-FFF2-40B4-BE49-F238E27FC236}">
                <a16:creationId xmlns:a16="http://schemas.microsoft.com/office/drawing/2014/main" id="{BFB54C93-9166-09F4-A64E-01C1C50894BC}"/>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255940" y="2505076"/>
            <a:ext cx="5009356" cy="3099593"/>
          </a:xfrm>
        </p:spPr>
      </p:pic>
    </p:spTree>
    <p:extLst>
      <p:ext uri="{BB962C8B-B14F-4D97-AF65-F5344CB8AC3E}">
        <p14:creationId xmlns:p14="http://schemas.microsoft.com/office/powerpoint/2010/main" val="38989343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EF501-6B35-CB43-F653-E42B673F32B4}"/>
              </a:ext>
            </a:extLst>
          </p:cNvPr>
          <p:cNvSpPr>
            <a:spLocks noGrp="1"/>
          </p:cNvSpPr>
          <p:nvPr>
            <p:ph type="title"/>
          </p:nvPr>
        </p:nvSpPr>
        <p:spPr/>
        <p:txBody>
          <a:bodyPr>
            <a:normAutofit/>
          </a:bodyPr>
          <a:lstStyle/>
          <a:p>
            <a:r>
              <a:rPr lang="en-IN" sz="6000" b="1" dirty="0"/>
              <a:t>OUTPUTS:-</a:t>
            </a:r>
          </a:p>
        </p:txBody>
      </p:sp>
      <p:sp>
        <p:nvSpPr>
          <p:cNvPr id="3" name="Text Placeholder 2">
            <a:extLst>
              <a:ext uri="{FF2B5EF4-FFF2-40B4-BE49-F238E27FC236}">
                <a16:creationId xmlns:a16="http://schemas.microsoft.com/office/drawing/2014/main" id="{0E6F0389-5EE3-C322-6FDC-25943223F13D}"/>
              </a:ext>
            </a:extLst>
          </p:cNvPr>
          <p:cNvSpPr>
            <a:spLocks noGrp="1"/>
          </p:cNvSpPr>
          <p:nvPr>
            <p:ph type="body" idx="1"/>
          </p:nvPr>
        </p:nvSpPr>
        <p:spPr>
          <a:xfrm>
            <a:off x="0" y="1681163"/>
            <a:ext cx="5997575" cy="823912"/>
          </a:xfrm>
        </p:spPr>
        <p:txBody>
          <a:bodyPr>
            <a:normAutofit/>
          </a:bodyPr>
          <a:lstStyle/>
          <a:p>
            <a:r>
              <a:rPr lang="en-IN" sz="4400" b="0" u="sng" dirty="0"/>
              <a:t>Deleting account:-</a:t>
            </a:r>
          </a:p>
        </p:txBody>
      </p:sp>
      <p:pic>
        <p:nvPicPr>
          <p:cNvPr id="8" name="Content Placeholder 7">
            <a:extLst>
              <a:ext uri="{FF2B5EF4-FFF2-40B4-BE49-F238E27FC236}">
                <a16:creationId xmlns:a16="http://schemas.microsoft.com/office/drawing/2014/main" id="{D3E93595-E6AC-3626-A1B4-5C0B8982FAF2}"/>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0" y="2762055"/>
            <a:ext cx="5071269" cy="2590202"/>
          </a:xfrm>
        </p:spPr>
      </p:pic>
      <p:sp>
        <p:nvSpPr>
          <p:cNvPr id="5" name="Text Placeholder 4">
            <a:extLst>
              <a:ext uri="{FF2B5EF4-FFF2-40B4-BE49-F238E27FC236}">
                <a16:creationId xmlns:a16="http://schemas.microsoft.com/office/drawing/2014/main" id="{7C054899-402F-36DA-C0E5-226FBC03A0A7}"/>
              </a:ext>
            </a:extLst>
          </p:cNvPr>
          <p:cNvSpPr>
            <a:spLocks noGrp="1"/>
          </p:cNvSpPr>
          <p:nvPr>
            <p:ph type="body" sz="quarter" idx="3"/>
          </p:nvPr>
        </p:nvSpPr>
        <p:spPr/>
        <p:txBody>
          <a:bodyPr>
            <a:normAutofit/>
          </a:bodyPr>
          <a:lstStyle/>
          <a:p>
            <a:r>
              <a:rPr lang="en-IN" sz="4400" b="0" u="sng" dirty="0"/>
              <a:t>Exiting BMS:-</a:t>
            </a:r>
          </a:p>
        </p:txBody>
      </p:sp>
      <p:pic>
        <p:nvPicPr>
          <p:cNvPr id="10" name="Content Placeholder 9">
            <a:extLst>
              <a:ext uri="{FF2B5EF4-FFF2-40B4-BE49-F238E27FC236}">
                <a16:creationId xmlns:a16="http://schemas.microsoft.com/office/drawing/2014/main" id="{3B1EEE65-2FC7-4FDE-8E84-50B729AED8A0}"/>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172200" y="2762055"/>
            <a:ext cx="5253087" cy="2590202"/>
          </a:xfrm>
        </p:spPr>
      </p:pic>
    </p:spTree>
    <p:extLst>
      <p:ext uri="{BB962C8B-B14F-4D97-AF65-F5344CB8AC3E}">
        <p14:creationId xmlns:p14="http://schemas.microsoft.com/office/powerpoint/2010/main" val="816533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F9C8-0EDB-11D0-0099-9B14B244B845}"/>
              </a:ext>
            </a:extLst>
          </p:cNvPr>
          <p:cNvSpPr>
            <a:spLocks noGrp="1"/>
          </p:cNvSpPr>
          <p:nvPr>
            <p:ph type="title"/>
          </p:nvPr>
        </p:nvSpPr>
        <p:spPr/>
        <p:txBody>
          <a:bodyPr>
            <a:normAutofit/>
          </a:bodyPr>
          <a:lstStyle/>
          <a:p>
            <a:r>
              <a:rPr lang="en-IN" sz="6000" b="1" dirty="0"/>
              <a:t>TESTING APPROACH :-</a:t>
            </a:r>
          </a:p>
        </p:txBody>
      </p:sp>
      <p:sp>
        <p:nvSpPr>
          <p:cNvPr id="3" name="Content Placeholder 2">
            <a:extLst>
              <a:ext uri="{FF2B5EF4-FFF2-40B4-BE49-F238E27FC236}">
                <a16:creationId xmlns:a16="http://schemas.microsoft.com/office/drawing/2014/main" id="{D52A602B-4D55-EE54-01DB-6CF54C79D284}"/>
              </a:ext>
            </a:extLst>
          </p:cNvPr>
          <p:cNvSpPr>
            <a:spLocks noGrp="1"/>
          </p:cNvSpPr>
          <p:nvPr>
            <p:ph idx="1"/>
          </p:nvPr>
        </p:nvSpPr>
        <p:spPr/>
        <p:txBody>
          <a:bodyPr/>
          <a:lstStyle/>
          <a:p>
            <a:r>
              <a:rPr lang="en-IN" u="sng" dirty="0"/>
              <a:t>Monitoring and live testing:-</a:t>
            </a:r>
            <a:r>
              <a:rPr lang="en-IN" dirty="0"/>
              <a:t>Observing system </a:t>
            </a:r>
            <a:r>
              <a:rPr lang="en-IN" dirty="0" err="1"/>
              <a:t>behavior</a:t>
            </a:r>
            <a:r>
              <a:rPr lang="en-IN" dirty="0"/>
              <a:t> in the production environment.</a:t>
            </a:r>
          </a:p>
          <a:p>
            <a:endParaRPr lang="en-IN" u="sng" dirty="0"/>
          </a:p>
          <a:p>
            <a:r>
              <a:rPr lang="en-IN" u="sng" dirty="0"/>
              <a:t>Regression testing:-</a:t>
            </a:r>
            <a:r>
              <a:rPr lang="en-IN" dirty="0"/>
              <a:t>Ensuring new code changes don’t break existing functionality.</a:t>
            </a:r>
          </a:p>
          <a:p>
            <a:endParaRPr lang="en-IN" dirty="0"/>
          </a:p>
          <a:p>
            <a:r>
              <a:rPr lang="en-IN" u="sng" dirty="0"/>
              <a:t>Performance testing:-</a:t>
            </a:r>
            <a:r>
              <a:rPr lang="en-IN" dirty="0"/>
              <a:t>System must handle extreme load .</a:t>
            </a:r>
            <a:endParaRPr lang="en-IN" u="sng" dirty="0"/>
          </a:p>
          <a:p>
            <a:endParaRPr lang="en-IN" u="sng" dirty="0"/>
          </a:p>
          <a:p>
            <a:endParaRPr lang="en-IN" u="sng" dirty="0"/>
          </a:p>
        </p:txBody>
      </p:sp>
    </p:spTree>
    <p:extLst>
      <p:ext uri="{BB962C8B-B14F-4D97-AF65-F5344CB8AC3E}">
        <p14:creationId xmlns:p14="http://schemas.microsoft.com/office/powerpoint/2010/main" val="39287059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5A89A-5D4D-1103-A1E2-35B163E1E3D4}"/>
              </a:ext>
            </a:extLst>
          </p:cNvPr>
          <p:cNvSpPr>
            <a:spLocks noGrp="1"/>
          </p:cNvSpPr>
          <p:nvPr>
            <p:ph type="title"/>
          </p:nvPr>
        </p:nvSpPr>
        <p:spPr/>
        <p:txBody>
          <a:bodyPr>
            <a:normAutofit/>
          </a:bodyPr>
          <a:lstStyle/>
          <a:p>
            <a:r>
              <a:rPr lang="en-IN" sz="6000" b="1" dirty="0"/>
              <a:t>CHALLENGES FACED:-</a:t>
            </a:r>
          </a:p>
        </p:txBody>
      </p:sp>
      <p:sp>
        <p:nvSpPr>
          <p:cNvPr id="3" name="Content Placeholder 2">
            <a:extLst>
              <a:ext uri="{FF2B5EF4-FFF2-40B4-BE49-F238E27FC236}">
                <a16:creationId xmlns:a16="http://schemas.microsoft.com/office/drawing/2014/main" id="{03ECFE79-96AC-D590-13E3-F7EC649D3BF4}"/>
              </a:ext>
            </a:extLst>
          </p:cNvPr>
          <p:cNvSpPr>
            <a:spLocks noGrp="1"/>
          </p:cNvSpPr>
          <p:nvPr>
            <p:ph idx="1"/>
          </p:nvPr>
        </p:nvSpPr>
        <p:spPr/>
        <p:txBody>
          <a:bodyPr/>
          <a:lstStyle/>
          <a:p>
            <a:r>
              <a:rPr lang="en-IN" u="sng" dirty="0"/>
              <a:t>Zero tolerance for error:-</a:t>
            </a:r>
            <a:r>
              <a:rPr lang="en-IN" dirty="0"/>
              <a:t>Any calculation or reporting error can lead to massive fines, legal liabilities or reputational damage.</a:t>
            </a:r>
          </a:p>
          <a:p>
            <a:endParaRPr lang="en-IN" u="sng" dirty="0"/>
          </a:p>
          <a:p>
            <a:r>
              <a:rPr lang="en-IN" u="sng" dirty="0"/>
              <a:t>Managing customer expectations:-</a:t>
            </a:r>
            <a:r>
              <a:rPr lang="en-IN" dirty="0"/>
              <a:t>The system must provide a consistent, high quality and fast user experience across all platforms.</a:t>
            </a:r>
          </a:p>
          <a:p>
            <a:endParaRPr lang="en-IN" u="sng" dirty="0"/>
          </a:p>
          <a:p>
            <a:r>
              <a:rPr lang="en-IN" u="sng" dirty="0"/>
              <a:t>Evolving regulatory:-</a:t>
            </a:r>
            <a:r>
              <a:rPr lang="en-IN" dirty="0"/>
              <a:t>The system must be designed to be flexible enough to rapidly adapt to any change without a major overhaul.</a:t>
            </a:r>
            <a:endParaRPr lang="en-IN" u="sng" dirty="0"/>
          </a:p>
        </p:txBody>
      </p:sp>
    </p:spTree>
    <p:extLst>
      <p:ext uri="{BB962C8B-B14F-4D97-AF65-F5344CB8AC3E}">
        <p14:creationId xmlns:p14="http://schemas.microsoft.com/office/powerpoint/2010/main" val="15325667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BDF45AB-497D-0511-D5FB-3BEFAD5566AF}"/>
              </a:ext>
            </a:extLst>
          </p:cNvPr>
          <p:cNvSpPr>
            <a:spLocks noGrp="1"/>
          </p:cNvSpPr>
          <p:nvPr>
            <p:ph type="title"/>
          </p:nvPr>
        </p:nvSpPr>
        <p:spPr/>
        <p:txBody>
          <a:bodyPr>
            <a:normAutofit/>
          </a:bodyPr>
          <a:lstStyle/>
          <a:p>
            <a:r>
              <a:rPr lang="en-IN" sz="6000" b="1" dirty="0"/>
              <a:t>LEARNINGS &amp; TAKEAWAYS :-</a:t>
            </a:r>
          </a:p>
        </p:txBody>
      </p:sp>
      <p:sp>
        <p:nvSpPr>
          <p:cNvPr id="8" name="Content Placeholder 7">
            <a:extLst>
              <a:ext uri="{FF2B5EF4-FFF2-40B4-BE49-F238E27FC236}">
                <a16:creationId xmlns:a16="http://schemas.microsoft.com/office/drawing/2014/main" id="{296E8490-CD57-D732-D20E-00828E3E3FCC}"/>
              </a:ext>
            </a:extLst>
          </p:cNvPr>
          <p:cNvSpPr>
            <a:spLocks noGrp="1"/>
          </p:cNvSpPr>
          <p:nvPr>
            <p:ph idx="1"/>
          </p:nvPr>
        </p:nvSpPr>
        <p:spPr/>
        <p:txBody>
          <a:bodyPr/>
          <a:lstStyle/>
          <a:p>
            <a:pPr marL="0" indent="0">
              <a:buNone/>
            </a:pPr>
            <a:r>
              <a:rPr lang="en-GB" dirty="0"/>
              <a:t>• Learnt how to structure a Python project with packages.</a:t>
            </a:r>
          </a:p>
          <a:p>
            <a:pPr marL="0" indent="0">
              <a:buNone/>
            </a:pPr>
            <a:endParaRPr lang="en-GB" dirty="0"/>
          </a:p>
          <a:p>
            <a:pPr marL="0" indent="0">
              <a:buNone/>
            </a:pPr>
            <a:endParaRPr lang="en-GB" dirty="0"/>
          </a:p>
          <a:p>
            <a:pPr marL="0" indent="0">
              <a:buNone/>
            </a:pPr>
            <a:r>
              <a:rPr lang="en-GB" dirty="0"/>
              <a:t> • Gained deeper knowledge of Data Structure, specifically Dictionaries,       and how they could represent complex decision trees.</a:t>
            </a:r>
          </a:p>
          <a:p>
            <a:pPr marL="0" indent="0">
              <a:buNone/>
            </a:pPr>
            <a:endParaRPr lang="en-GB" dirty="0"/>
          </a:p>
          <a:p>
            <a:pPr marL="0" indent="0">
              <a:buNone/>
            </a:pPr>
            <a:endParaRPr lang="en-GB" dirty="0"/>
          </a:p>
          <a:p>
            <a:pPr marL="0" indent="0">
              <a:buNone/>
            </a:pPr>
            <a:r>
              <a:rPr lang="en-GB" dirty="0"/>
              <a:t> • Learnt the importance of separating "Logic" from "Data" in making code maintainable.</a:t>
            </a:r>
            <a:endParaRPr lang="en-IN" dirty="0"/>
          </a:p>
        </p:txBody>
      </p:sp>
    </p:spTree>
    <p:extLst>
      <p:ext uri="{BB962C8B-B14F-4D97-AF65-F5344CB8AC3E}">
        <p14:creationId xmlns:p14="http://schemas.microsoft.com/office/powerpoint/2010/main" val="16155102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2ABAD-3EDF-337F-3D8B-F28EC97701E9}"/>
              </a:ext>
            </a:extLst>
          </p:cNvPr>
          <p:cNvSpPr>
            <a:spLocks noGrp="1"/>
          </p:cNvSpPr>
          <p:nvPr>
            <p:ph type="title"/>
          </p:nvPr>
        </p:nvSpPr>
        <p:spPr/>
        <p:txBody>
          <a:bodyPr>
            <a:normAutofit/>
          </a:bodyPr>
          <a:lstStyle/>
          <a:p>
            <a:r>
              <a:rPr lang="en-IN" sz="6000" b="1" dirty="0"/>
              <a:t>FUTURE ENHANCEMENTS :-</a:t>
            </a:r>
          </a:p>
        </p:txBody>
      </p:sp>
      <p:sp>
        <p:nvSpPr>
          <p:cNvPr id="3" name="Content Placeholder 2">
            <a:extLst>
              <a:ext uri="{FF2B5EF4-FFF2-40B4-BE49-F238E27FC236}">
                <a16:creationId xmlns:a16="http://schemas.microsoft.com/office/drawing/2014/main" id="{ED4DEB6A-3344-E0E9-9FE0-7B19CC6D3E1A}"/>
              </a:ext>
            </a:extLst>
          </p:cNvPr>
          <p:cNvSpPr>
            <a:spLocks noGrp="1"/>
          </p:cNvSpPr>
          <p:nvPr>
            <p:ph idx="1"/>
          </p:nvPr>
        </p:nvSpPr>
        <p:spPr/>
        <p:txBody>
          <a:bodyPr/>
          <a:lstStyle/>
          <a:p>
            <a:r>
              <a:rPr lang="en-IN" sz="4000" u="sng" dirty="0"/>
              <a:t>Use of AI and ML:-</a:t>
            </a:r>
            <a:r>
              <a:rPr lang="en-IN" sz="4000" dirty="0"/>
              <a:t>AI and ML move the system from reactive management to proactive management.</a:t>
            </a:r>
          </a:p>
          <a:p>
            <a:endParaRPr lang="en-IN" sz="4000" u="sng" dirty="0"/>
          </a:p>
          <a:p>
            <a:r>
              <a:rPr lang="en-IN" sz="4000" u="sng" dirty="0"/>
              <a:t>Blockchain:-</a:t>
            </a:r>
            <a:r>
              <a:rPr lang="en-IN" sz="4000" dirty="0"/>
              <a:t>Blockchain enhances </a:t>
            </a:r>
            <a:r>
              <a:rPr lang="en-IN" sz="4000" dirty="0" err="1"/>
              <a:t>security,transparency</a:t>
            </a:r>
            <a:r>
              <a:rPr lang="en-IN" sz="4000" dirty="0"/>
              <a:t> and speed in specific banking areas.</a:t>
            </a:r>
          </a:p>
          <a:p>
            <a:endParaRPr lang="en-IN" sz="4000" u="sng" dirty="0"/>
          </a:p>
          <a:p>
            <a:endParaRPr lang="en-IN" u="sng" dirty="0"/>
          </a:p>
        </p:txBody>
      </p:sp>
    </p:spTree>
    <p:extLst>
      <p:ext uri="{BB962C8B-B14F-4D97-AF65-F5344CB8AC3E}">
        <p14:creationId xmlns:p14="http://schemas.microsoft.com/office/powerpoint/2010/main" val="20275077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7B5F2-2D83-C1EC-3E39-892E4D831C7F}"/>
              </a:ext>
            </a:extLst>
          </p:cNvPr>
          <p:cNvSpPr>
            <a:spLocks noGrp="1"/>
          </p:cNvSpPr>
          <p:nvPr>
            <p:ph type="title"/>
          </p:nvPr>
        </p:nvSpPr>
        <p:spPr/>
        <p:txBody>
          <a:bodyPr>
            <a:normAutofit/>
          </a:bodyPr>
          <a:lstStyle/>
          <a:p>
            <a:r>
              <a:rPr lang="en-IN" sz="6000" b="1" dirty="0"/>
              <a:t>REFERENCES :-</a:t>
            </a:r>
          </a:p>
        </p:txBody>
      </p:sp>
      <p:sp>
        <p:nvSpPr>
          <p:cNvPr id="3" name="Content Placeholder 2">
            <a:extLst>
              <a:ext uri="{FF2B5EF4-FFF2-40B4-BE49-F238E27FC236}">
                <a16:creationId xmlns:a16="http://schemas.microsoft.com/office/drawing/2014/main" id="{C661C89C-8690-DD92-F286-53E435EB0306}"/>
              </a:ext>
            </a:extLst>
          </p:cNvPr>
          <p:cNvSpPr>
            <a:spLocks noGrp="1"/>
          </p:cNvSpPr>
          <p:nvPr>
            <p:ph idx="1"/>
          </p:nvPr>
        </p:nvSpPr>
        <p:spPr/>
        <p:txBody>
          <a:bodyPr>
            <a:normAutofit/>
          </a:bodyPr>
          <a:lstStyle/>
          <a:p>
            <a:pPr marL="742950" indent="-742950">
              <a:buAutoNum type="arabicPeriod"/>
            </a:pPr>
            <a:r>
              <a:rPr lang="en-IN" sz="4000" dirty="0"/>
              <a:t>Books and Academic references</a:t>
            </a:r>
          </a:p>
          <a:p>
            <a:pPr marL="742950" indent="-742950">
              <a:buAutoNum type="arabicPeriod"/>
            </a:pPr>
            <a:endParaRPr lang="en-IN" sz="4000" dirty="0"/>
          </a:p>
          <a:p>
            <a:pPr marL="742950" indent="-742950">
              <a:buAutoNum type="arabicPeriod"/>
            </a:pPr>
            <a:r>
              <a:rPr lang="en-IN" sz="4000" dirty="0"/>
              <a:t>Core banking system(CBS) Architecture and Design</a:t>
            </a:r>
          </a:p>
          <a:p>
            <a:pPr marL="742950" indent="-742950">
              <a:buAutoNum type="arabicPeriod"/>
            </a:pPr>
            <a:endParaRPr lang="en-IN" sz="4000" dirty="0"/>
          </a:p>
          <a:p>
            <a:pPr marL="742950" indent="-742950">
              <a:buAutoNum type="arabicPeriod"/>
            </a:pPr>
            <a:r>
              <a:rPr lang="en-IN" sz="4000" dirty="0"/>
              <a:t>Python 3 Documentation </a:t>
            </a:r>
          </a:p>
        </p:txBody>
      </p:sp>
    </p:spTree>
    <p:extLst>
      <p:ext uri="{BB962C8B-B14F-4D97-AF65-F5344CB8AC3E}">
        <p14:creationId xmlns:p14="http://schemas.microsoft.com/office/powerpoint/2010/main" val="9417989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334</TotalTime>
  <Words>674</Words>
  <Application>Microsoft Office PowerPoint</Application>
  <PresentationFormat>Widescreen</PresentationFormat>
  <Paragraphs>77</Paragraphs>
  <Slides>17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Office Theme</vt:lpstr>
      <vt:lpstr>INTRODUCTION TO PROBLEM SOLVING AND PROGRAMMING PYTHON PROJECT (BLOOD BANK MANAGEMENT SYSTEM)</vt:lpstr>
      <vt:lpstr>INTRODUCTION:-</vt:lpstr>
      <vt:lpstr>PROBLEM STATEMENT:-</vt:lpstr>
      <vt:lpstr>FUNCTIONAL REQUIREMENTS:-</vt:lpstr>
      <vt:lpstr>NON-FUNCTIONAL REQUIREMENTS:-</vt:lpstr>
      <vt:lpstr>SYSTEM ARCHITECTURE:-</vt:lpstr>
      <vt:lpstr>DESIGN DIAGRAMS </vt:lpstr>
      <vt:lpstr>DESIGN DECISIONS &amp; RATIONALE :-</vt:lpstr>
      <vt:lpstr>IMPLEMENTATION DETAILS:-</vt:lpstr>
      <vt:lpstr>OUTPUTS:-</vt:lpstr>
      <vt:lpstr>OUTPUTS:-</vt:lpstr>
      <vt:lpstr>OUTPUTS:-</vt:lpstr>
      <vt:lpstr>TESTING APPROACH :-</vt:lpstr>
      <vt:lpstr>CHALLENGES FACED:-</vt:lpstr>
      <vt:lpstr>LEARNINGS &amp; TAKEAWAYS :-</vt:lpstr>
      <vt:lpstr>FUTURE ENHANCEMENTS :-</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ABHINAV JAIN</dc:creator>
  <cp:lastModifiedBy>Rainbow Power</cp:lastModifiedBy>
  <cp:revision>2</cp:revision>
  <dcterms:created xsi:type="dcterms:W3CDTF">2025-11-22T19:35:36Z</dcterms:created>
  <dcterms:modified xsi:type="dcterms:W3CDTF">2025-11-25T01:21:18Z</dcterms:modified>
</cp:coreProperties>
</file>